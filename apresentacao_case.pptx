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4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09728" cy="6858000"/>
          </a:xfrm>
          <a:prstGeom prst="rect">
            <a:avLst/>
          </a:prstGeom>
          <a:solidFill>
            <a:srgbClr val="EC5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6858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Inter"/>
              </a:defRPr>
            </a:pPr>
            <a:r>
              <a:t>Integração ViaCEP e BFF</a:t>
            </a:r>
          </a:p>
          <a:p>
            <a:pPr>
              <a:spcBef>
                <a:spcPts val="1000"/>
              </a:spcBef>
              <a:defRPr sz="2200">
                <a:solidFill>
                  <a:srgbClr val="EC5D17"/>
                </a:solidFill>
                <a:latin typeface="Inter"/>
              </a:defRPr>
            </a:pPr>
            <a:r>
              <a:t>Solução Robusta &amp; Automação de Qualidade (QA)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206240"/>
            <a:ext cx="6858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Inter"/>
              </a:defRPr>
            </a:pPr>
            <a:r>
              <a:t>Candidata: Vitória Barbosa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Inter"/>
              </a:defRPr>
            </a:pPr>
            <a:r>
              <a:t>Apresentação de Case Técnico | Vaga Backend Júnior</a:t>
            </a:r>
            <a:br/>
            <a:r>
              <a:t>Rede de Agências - Consignado Itaú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731520"/>
          </a:xfrm>
          <a:prstGeom prst="rect">
            <a:avLst/>
          </a:prstGeom>
          <a:solidFill>
            <a:srgbClr val="EC5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4691"/>
                </a:solidFill>
                <a:latin typeface="Inter"/>
              </a:defRPr>
            </a:pPr>
            <a:r>
              <a:t>CASE TÉCNICO | DISTRIBUIÇÃO REDE DE AGÊNCIAS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O Desafio: Consignado Rede de Agências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4691"/>
                </a:solidFill>
                <a:latin typeface="Inter"/>
              </a:defRPr>
            </a:pPr>
            <a:r>
              <a:t>Contexto e Necessidade de Negócio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Inter"/>
              </a:defRPr>
            </a:pPr>
            <a:r>
              <a:t>Durante o processo de venda de produtos consignados nas agências, o gerente consultivo precisa registrar e validar se o endereço informado pelo cliente condiz com o histórico interno.</a:t>
            </a:r>
            <a:br/>
            <a:br/>
            <a:r>
              <a:t>Para isso, é necessária uma conexão segura e rápida com a API dos Correios (ViaCEP) para buscar os dados cadastrais do logradouro.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C5D17"/>
                </a:solidFill>
                <a:latin typeface="Inter"/>
              </a:defRPr>
            </a:pPr>
            <a:r>
              <a:t>Requisitos Técnicos do BFF (READ)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t>• Conexão com a API ViaCEP (/ws/{cep}/json/)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t>• Implementação da operação READ de forma eficiente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t>• Filtro de campos: remoção de IBGE, GIA, DDD e Siafe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t>• Normalização do campo logradouro em lowercase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t>• Adoção de Boas Práticas, arquitetura limpa e testes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731520"/>
          </a:xfrm>
          <a:prstGeom prst="rect">
            <a:avLst/>
          </a:prstGeom>
          <a:solidFill>
            <a:srgbClr val="EC5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4691"/>
                </a:solidFill>
                <a:latin typeface="Inter"/>
              </a:defRPr>
            </a:pPr>
            <a:r>
              <a:t>CASE TÉCNICO | DISTRIBUIÇÃO REDE DE AGÊNCIAS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Arquitetura da Aplicação &amp; Decisões Técnicas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4691"/>
                </a:solidFill>
                <a:latin typeface="Inter"/>
              </a:defRPr>
            </a:pPr>
            <a:r>
              <a:t>Decisões de Design ("O Porquê")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✔ Java 21 &amp; Spring Boot 3.3.4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    Uso da stack mais recente LTS para performance e segurança de longo prazo.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✔ Spring Cloud OpenFeign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    Cliente HTTP declarativo e legível. Reduz boilerplate se comparado ao RestTemplate e simplifica fallbacks.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✔ Java Records (DTOs)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    Usados para os contratos de entrada e saída. Garante imutabilidade e mapeamento automático limpo.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  <a:latin typeface="Inter"/>
              </a:defRPr>
            </a:pPr>
            <a:r>
              <a:t>✔ GlobalExceptionHandler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Inter"/>
              </a:defRPr>
            </a:pPr>
            <a:r>
              <a:t>    Centraliza o tratamento de erros HTTP (400, 404, 502) retornando payloads padronizados em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004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Fluxo Coeso da Requisição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1. Cliente envia GET /viacep/{cep}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2. ViaCepController intercepta e valida formato sintático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3. ViaCepService valida regras de negócio e higieniza CEP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4. ViaCepClient (Feign) realiza a chamada externa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5. DTO filtra campos (ignora ibge, gia...) e converte lowercase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6. Resposta limpa com 200 OK ou erro customizado se CEP falhar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731520"/>
          </a:xfrm>
          <a:prstGeom prst="rect">
            <a:avLst/>
          </a:prstGeom>
          <a:solidFill>
            <a:srgbClr val="EC5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4691"/>
                </a:solidFill>
                <a:latin typeface="Inter"/>
              </a:defRPr>
            </a:pPr>
            <a:r>
              <a:t>CASE TÉCNICO | DISTRIBUIÇÃO REDE DE AGÊNCIAS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Diferenciais do Projeto: Automação via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4691"/>
                </a:solidFill>
                <a:latin typeface="Inter"/>
              </a:defRPr>
            </a:pPr>
            <a:r>
              <a:t>O que são as AI Agent Skills?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Inter"/>
              </a:defRPr>
            </a:pPr>
            <a:r>
              <a:t>Para otimizar o ciclo de desenvolvimento e garantir a qualidade típica de engenharia sênior em um projeto júnior, este repositório foi equipado com automações baseadas em agentes de IA localizadas na pasta .agents/skills/.</a:t>
            </a:r>
            <a:br/>
            <a:br/>
            <a:r>
              <a:t>Essas skills não apenas analisam o código, mas auxiliam na documentação contínua e na integridade arquitetural do BFF.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5D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🔍 code-review (Gera relatórios em report-review/)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Analisa conformidade SOLID, Clean Code e padrões MVC/BFF. Evita vazamento de stacktrace e acoplamento precoce.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212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5D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🛡️ unit-testing (Gera relatórios em report-testes/)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Audita nomenclatura, cobertura e estrutura AAA de testes. Garante isolamento absoluto de banco/rede.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89120"/>
            <a:ext cx="5212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5D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📚 criar-docs (Gera relatórios em report-docs/)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Técnico de documentação que mantém o README atualizado e gera uma doc técnica interativa.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731520"/>
          </a:xfrm>
          <a:prstGeom prst="rect">
            <a:avLst/>
          </a:prstGeom>
          <a:solidFill>
            <a:srgbClr val="EC5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4691"/>
                </a:solidFill>
                <a:latin typeface="Inter"/>
              </a:defRPr>
            </a:pPr>
            <a:r>
              <a:t>CASE TÉCNICO | DISTRIBUIÇÃO REDE DE AGÊNCIAS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Qualidade Proativa: Cenários de Testes unitários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4691"/>
                </a:solidFill>
                <a:latin typeface="Inter"/>
              </a:defRPr>
            </a:pPr>
            <a:r>
              <a:t>Cenários Adicionados (Cobertura Completa)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t>✔ CEP Não Encontrado: Verificação da flag 'erro' e tratamento amigável lançando exceção correta.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t>✔ Validação de Formatos no Controller: Casos sem hífen, com hífen, espaços, e tamanho inválido.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t>✔ CEP Gerais (Municípios): Suporte a logradouros legítimos que retornam vazios ou nulos pela API.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t>✔ Falhas de Integração Externa: Simulação de erros de rede ou quedas do ViaCEP (FeignException).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5D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C5D17"/>
                </a:solidFill>
                <a:latin typeface="Inter"/>
              </a:defRPr>
            </a:pPr>
            <a:r>
              <a:t>Cenários Excluídos (Bypass de Code Smells)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t>✖ Validação de negócio no Record: Excluída do DTO para evitar quebras durante a desserialização normal.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t>✖ Testes de injeção manual redundantemente: Removidos testes inúteis que poluíam o código de teste.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t>✖ Tratamento de NPE genérico no Exception Handler: Substituído por tratadores específicos que evitam esconder bugs.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731520"/>
          </a:xfrm>
          <a:prstGeom prst="rect">
            <a:avLst/>
          </a:prstGeom>
          <a:solidFill>
            <a:srgbClr val="EC5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4691"/>
                </a:solidFill>
                <a:latin typeface="Inter"/>
              </a:defRPr>
            </a:pPr>
            <a:r>
              <a:t>CASE TÉCNICO | DISTRIBUIÇÃO REDE DE AGÊNCIAS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Suite de Testes Unitários: 18 Asserções (100% Sucesso)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114800"/>
          </a:xfrm>
          <a:prstGeom prst="roundRect">
            <a:avLst/>
          </a:prstGeom>
          <a:solidFill>
            <a:srgbClr val="004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749039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Inter"/>
              </a:defRPr>
            </a:pPr>
            <a:r>
              <a:t>100%</a:t>
            </a:r>
          </a:p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Taxa de Sucesso (Build Pass)</a:t>
            </a:r>
            <a:br/>
            <a:r>
              <a:t>18 Testes Unitários de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645920"/>
            <a:ext cx="6126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Inter"/>
              </a:defRPr>
            </a:pPr>
            <a:r>
              <a:t>Distribuição da Cobertura de Testes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ViaCepServiceTest (7 testes): </a:t>
            </a:r>
            <a:r>
              <a:rPr sz="1300">
                <a:solidFill>
                  <a:srgbClr val="64748B"/>
                </a:solidFill>
                <a:latin typeface="Inter"/>
              </a:rPr>
              <a:t>Garante higienização do CEP, formato e interceptação de erro da API externa.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GlobalExceptionHandlerTest (4 testes): </a:t>
            </a:r>
            <a:r>
              <a:rPr sz="1300">
                <a:solidFill>
                  <a:srgbClr val="64748B"/>
                </a:solidFill>
                <a:latin typeface="Inter"/>
              </a:rPr>
              <a:t>Valida formatação do JSON de retorno das exceções capturadas.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ViaCepResponseDTOTest (3 testes): </a:t>
            </a:r>
            <a:r>
              <a:rPr sz="1300">
                <a:solidFill>
                  <a:srgbClr val="64748B"/>
                </a:solidFill>
                <a:latin typeface="Inter"/>
              </a:rPr>
              <a:t>Valida conversão automática do logradouro para lowercase e tolerância a nulos.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ViaCepControllerTest (2 testes): </a:t>
            </a:r>
            <a:r>
              <a:rPr sz="1300">
                <a:solidFill>
                  <a:srgbClr val="64748B"/>
                </a:solidFill>
                <a:latin typeface="Inter"/>
              </a:rPr>
              <a:t>WebMvcTest com MockMvc garantindo as rotas HTTP e as anotações do Bean Validation.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Outros (2 testes): </a:t>
            </a:r>
            <a:r>
              <a:rPr sz="1300">
                <a:solidFill>
                  <a:srgbClr val="64748B"/>
                </a:solidFill>
                <a:latin typeface="Inter"/>
              </a:rPr>
              <a:t>Testes estruturais do contexto do Spring Boot.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731520"/>
          </a:xfrm>
          <a:prstGeom prst="rect">
            <a:avLst/>
          </a:prstGeom>
          <a:solidFill>
            <a:srgbClr val="EC5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4691"/>
                </a:solidFill>
                <a:latin typeface="Inter"/>
              </a:defRPr>
            </a:pPr>
            <a:r>
              <a:t>CASE TÉCNICO | DISTRIBUIÇÃO REDE DE AGÊNCIAS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Conclusão &amp; Visão de Futuro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4691"/>
                </a:solidFill>
                <a:latin typeface="Inter"/>
              </a:defRPr>
            </a:pPr>
            <a:r>
              <a:t>Valor Entregue pelo BFF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Inter"/>
              </a:defRPr>
            </a:pPr>
            <a:r>
              <a:t>A aplicação não é apenas uma leitura de CEP. É uma base sólida pronta para a produção na rede de agências do Itaú.</a:t>
            </a:r>
            <a:br/>
            <a:br/>
            <a:r>
              <a:t>• Resiliência a falhas de rede (FeignExceptions tratadas).</a:t>
            </a:r>
            <a:br/>
            <a:r>
              <a:t>• Sem gargalo ou acúmulo de dados desnecessários (Payload reduzido em ~40% pela exclusão de campos).</a:t>
            </a:r>
            <a:br/>
            <a:r>
              <a:t>• Validação robusta que protege o processamento interno.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EC5D17"/>
                </a:solidFill>
                <a:latin typeface="Inter"/>
              </a:defRPr>
            </a:pPr>
            <a:r>
              <a:t>Mindset do Profissional Júnior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t>✔ Qualidade em Primeiro Lugar: Garantia de testes verdes e arquitetura limpa antes do deploy.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t>✔ Proatividade em Automação: O uso de AI Skills acelera revisões de código e padronização.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t>✔ Documentação DX: Códigos de fácil onboarding reduzem fricção e aumentam a produtividade da equipe.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t>✔ Adaptabilidade: Uso de ferramentas modernas e stacks recomendadas pelo ecossistema.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